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2" r:id="rId3"/>
    <p:sldId id="286" r:id="rId4"/>
    <p:sldId id="289" r:id="rId5"/>
    <p:sldId id="290" r:id="rId6"/>
    <p:sldId id="308" r:id="rId7"/>
    <p:sldId id="309" r:id="rId8"/>
    <p:sldId id="310" r:id="rId9"/>
    <p:sldId id="288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20" r:id="rId18"/>
    <p:sldId id="326" r:id="rId19"/>
    <p:sldId id="328" r:id="rId20"/>
    <p:sldId id="324" r:id="rId21"/>
    <p:sldId id="323" r:id="rId22"/>
    <p:sldId id="325" r:id="rId23"/>
    <p:sldId id="307" r:id="rId24"/>
    <p:sldId id="259" r:id="rId25"/>
  </p:sldIdLst>
  <p:sldSz cx="12192000" cy="6858000"/>
  <p:notesSz cx="6858000" cy="9144000"/>
  <p:embeddedFontLst>
    <p:embeddedFont>
      <p:font typeface="Lato Black" panose="020F0502020204030203" pitchFamily="34" charset="0"/>
      <p:bold r:id="rId27"/>
      <p:boldItalic r:id="rId28"/>
    </p:embeddedFont>
    <p:embeddedFont>
      <p:font typeface="Libre Baskerville" panose="02000000000000000000" pitchFamily="2" charset="0"/>
      <p:regular r:id="rId29"/>
      <p:bold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7039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4081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kar42" TargetMode="External"/><Relationship Id="rId2" Type="http://schemas.openxmlformats.org/officeDocument/2006/relationships/hyperlink" Target="https://www.linkedin.com/in/emmadi-srikar-03baaa337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9427"/>
            <a:ext cx="12190815" cy="70606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395221" y="3846137"/>
            <a:ext cx="580534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Online Course Trend Analysis </a:t>
            </a:r>
            <a:endParaRPr lang="en-IN" sz="3200" dirty="0">
              <a:solidFill>
                <a:schemeClr val="tx1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010588-4B5E-0B29-F640-E853F159DBFB}"/>
              </a:ext>
            </a:extLst>
          </p:cNvPr>
          <p:cNvSpPr/>
          <p:nvPr/>
        </p:nvSpPr>
        <p:spPr>
          <a:xfrm>
            <a:off x="8107051" y="4864230"/>
            <a:ext cx="3167407" cy="1564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Emmadi Srikar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Batch No :436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 </a:t>
            </a:r>
            <a:r>
              <a:rPr lang="en-IN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Innomatics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Research</a:t>
            </a:r>
          </a:p>
          <a:p>
            <a:pPr algn="ctr">
              <a:buSzPts val="1800"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Labs </a:t>
            </a:r>
            <a:r>
              <a:rPr lang="en-IN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Dilshuknagar</a:t>
            </a:r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D26D-9A0D-1E88-9A25-F325A972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8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  <a:buFont typeface="Arial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Arial"/>
              </a:rPr>
              <a:t>About 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1EFCE-000B-1866-51F4-B884E1FB9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8290"/>
            <a:ext cx="10515600" cy="4668674"/>
          </a:xfrm>
        </p:spPr>
        <p:txBody>
          <a:bodyPr/>
          <a:lstStyle/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Emmadi Srikar.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Computer Science and Engineering from St Mary’s Group of Institution Hyderabad.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https://www.linkedin.com/in/emmadi-srikar-03baaa337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https://github.com/srikar42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9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CDE4-402E-FC2B-EAFD-CA18F47D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D1BEC-7190-FECC-9D87-502FB2085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Analysis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162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60E9-FB19-69FA-79B3-84864A52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405353"/>
            <a:ext cx="10590229" cy="923826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: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535C5-462F-B7D4-1A3D-9D3A6E308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1" y="1574276"/>
            <a:ext cx="10590229" cy="4602688"/>
          </a:xfrm>
        </p:spPr>
        <p:txBody>
          <a:bodyPr/>
          <a:lstStyle/>
          <a:p>
            <a:r>
              <a:rPr lang="en-US" sz="2000" dirty="0"/>
              <a:t>Online learning platforms offer thousands of courses, making it difficult for learners to choose the most suitable one.</a:t>
            </a:r>
          </a:p>
          <a:p>
            <a:pPr marL="457200" indent="-342900"/>
            <a:r>
              <a:rPr lang="en-US" sz="2000" dirty="0"/>
              <a:t>Due to similar ratings, varying skill coverage, and unclear course structure, learners often struggle to make informed decisions :</a:t>
            </a:r>
          </a:p>
          <a:p>
            <a:pPr marL="457200" indent="-342900"/>
            <a:r>
              <a:rPr lang="en-US" sz="2000" dirty="0"/>
              <a:t>Difficulty in selecting the right course</a:t>
            </a:r>
          </a:p>
          <a:p>
            <a:pPr marL="457200" indent="-342900"/>
            <a:r>
              <a:rPr lang="en-US" sz="2000" dirty="0"/>
              <a:t>Similar ratings across many courses</a:t>
            </a:r>
          </a:p>
          <a:p>
            <a:pPr marL="457200" indent="-342900"/>
            <a:r>
              <a:rPr lang="en-US" sz="2000" dirty="0"/>
              <a:t>Unclear skill and duration details</a:t>
            </a:r>
          </a:p>
          <a:p>
            <a:pPr marL="457200" indent="-342900"/>
            <a:r>
              <a:rPr lang="en-US" sz="2000" dirty="0"/>
              <a:t>Lack of Comparative Insights</a:t>
            </a:r>
          </a:p>
          <a:p>
            <a:pPr marL="457200" indent="-342900"/>
            <a:r>
              <a:rPr lang="en-US" sz="2000" dirty="0"/>
              <a:t>Need for data-driven decision making</a:t>
            </a:r>
          </a:p>
          <a:p>
            <a:pPr marL="457200" indent="-342900"/>
            <a:endParaRPr lang="en-US" sz="2000" dirty="0"/>
          </a:p>
          <a:p>
            <a:pPr marL="571500" indent="-457200"/>
            <a:endParaRPr lang="en-US" sz="2000" dirty="0"/>
          </a:p>
          <a:p>
            <a:pPr marL="571500" indent="-457200"/>
            <a:endParaRPr lang="en-US" sz="2000" dirty="0"/>
          </a:p>
          <a:p>
            <a:pPr marL="571500" indent="-457200"/>
            <a:endParaRPr lang="en-US" dirty="0"/>
          </a:p>
          <a:p>
            <a:pPr marL="571500" indent="-457200"/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E29383A9-E698-76F3-ABAF-B89ECC498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7761" y="-8097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81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EF8C-9AD6-674A-7734-938BF699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6" y="367645"/>
            <a:ext cx="10637363" cy="980388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Objective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16FBD-DFD6-B2BD-9B02-2C665DC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8" y="1621410"/>
            <a:ext cx="10637362" cy="4555553"/>
          </a:xfrm>
        </p:spPr>
        <p:txBody>
          <a:bodyPr vert="horz" wrap="square" anchor="t" anchorCtr="0">
            <a:noAutofit/>
          </a:bodyPr>
          <a:lstStyle/>
          <a:p>
            <a:r>
              <a:rPr lang="en-US" sz="2400" dirty="0"/>
              <a:t>The objective of this project is to analyze Coursera course data to provide meaningful insights </a:t>
            </a:r>
            <a:r>
              <a:rPr lang="en-US" sz="2400"/>
              <a:t>for learners.</a:t>
            </a:r>
            <a:endParaRPr lang="en-US" sz="2400" dirty="0"/>
          </a:p>
          <a:p>
            <a:r>
              <a:rPr lang="en-US" sz="2400" dirty="0"/>
              <a:t>Collect course data using web scraping</a:t>
            </a:r>
          </a:p>
          <a:p>
            <a:r>
              <a:rPr lang="en-US" sz="2400" dirty="0"/>
              <a:t>Clean and prepare the data for analysis</a:t>
            </a:r>
          </a:p>
          <a:p>
            <a:r>
              <a:rPr lang="en-US" sz="2400" dirty="0"/>
              <a:t>Perform exploratory data analysis(EDA)</a:t>
            </a:r>
          </a:p>
          <a:p>
            <a:r>
              <a:rPr lang="en-US" sz="2400" dirty="0"/>
              <a:t>Apply hypothesis testing to validate assumptions</a:t>
            </a:r>
          </a:p>
          <a:p>
            <a:r>
              <a:rPr lang="en-US" sz="2400" dirty="0"/>
              <a:t>Present insights through visualizations.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>
              <a:noFill/>
            </a:endParaRPr>
          </a:p>
          <a:p>
            <a:endParaRPr lang="en-US" sz="2400" dirty="0">
              <a:noFill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F64687-427F-90BD-344C-1080BBE94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13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09DB-2FEA-6193-AA85-79AE6DA2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30" y="414779"/>
            <a:ext cx="9860437" cy="989815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62A36-B5F4-9762-E059-2D5CE874A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3"/>
            <a:ext cx="10515600" cy="4621540"/>
          </a:xfrm>
        </p:spPr>
        <p:txBody>
          <a:bodyPr>
            <a:noAutofit/>
          </a:bodyPr>
          <a:lstStyle/>
          <a:p>
            <a:r>
              <a:rPr lang="en-US" sz="2400" dirty="0"/>
              <a:t>Data collected using Selenium Web Scraping.</a:t>
            </a:r>
          </a:p>
          <a:p>
            <a:r>
              <a:rPr lang="en-US" sz="2400" dirty="0"/>
              <a:t>Courses Scraped under Data Science Category.</a:t>
            </a:r>
          </a:p>
          <a:p>
            <a:r>
              <a:rPr lang="en-US" sz="2400" dirty="0"/>
              <a:t>Extracted attributes :</a:t>
            </a:r>
          </a:p>
          <a:p>
            <a:r>
              <a:rPr lang="en-US" sz="2400" dirty="0"/>
              <a:t>Course Title</a:t>
            </a:r>
          </a:p>
          <a:p>
            <a:r>
              <a:rPr lang="en-US" sz="2400" dirty="0"/>
              <a:t> Provider</a:t>
            </a:r>
          </a:p>
          <a:p>
            <a:r>
              <a:rPr lang="en-US" sz="2400" dirty="0"/>
              <a:t> Skills Gained</a:t>
            </a:r>
          </a:p>
          <a:p>
            <a:r>
              <a:rPr lang="en-US" sz="2400" dirty="0"/>
              <a:t> Rating</a:t>
            </a:r>
          </a:p>
          <a:p>
            <a:r>
              <a:rPr lang="en-US" sz="2400" dirty="0"/>
              <a:t> Level</a:t>
            </a:r>
          </a:p>
          <a:p>
            <a:r>
              <a:rPr lang="en-US" sz="2400" dirty="0"/>
              <a:t> Duration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51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1A10-886B-E56D-63F4-ECCA94722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9" y="395926"/>
            <a:ext cx="10605155" cy="923828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A323-0B67-2808-8F3B-4F616245A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849"/>
            <a:ext cx="10515600" cy="4612114"/>
          </a:xfrm>
        </p:spPr>
        <p:txBody>
          <a:bodyPr/>
          <a:lstStyle/>
          <a:p>
            <a:r>
              <a:rPr lang="en-IN" sz="2400" dirty="0"/>
              <a:t>Python</a:t>
            </a:r>
          </a:p>
          <a:p>
            <a:r>
              <a:rPr lang="en-IN" sz="2400" dirty="0"/>
              <a:t>Selenium</a:t>
            </a:r>
          </a:p>
          <a:p>
            <a:r>
              <a:rPr lang="en-IN" sz="2400" dirty="0"/>
              <a:t>Pandas</a:t>
            </a:r>
          </a:p>
          <a:p>
            <a:r>
              <a:rPr lang="en-IN" sz="2400" dirty="0"/>
              <a:t>NumPy</a:t>
            </a:r>
          </a:p>
          <a:p>
            <a:r>
              <a:rPr lang="en-IN" sz="2400" dirty="0"/>
              <a:t>Matplotlib</a:t>
            </a:r>
          </a:p>
          <a:p>
            <a:r>
              <a:rPr lang="en-IN" sz="2400" dirty="0"/>
              <a:t>SciPy</a:t>
            </a:r>
          </a:p>
          <a:p>
            <a:r>
              <a:rPr lang="en-IN" sz="2400" dirty="0" err="1"/>
              <a:t>Jupyter</a:t>
            </a:r>
            <a:r>
              <a:rPr lang="en-IN" sz="2400" dirty="0"/>
              <a:t> Notebook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4207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B539-6C94-1EBF-BDC6-F31ED467B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449" y="358219"/>
            <a:ext cx="10703351" cy="923827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58398-A832-A510-5B4A-83111CD33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581"/>
            <a:ext cx="10515600" cy="4706382"/>
          </a:xfrm>
        </p:spPr>
        <p:txBody>
          <a:bodyPr>
            <a:normAutofit/>
          </a:bodyPr>
          <a:lstStyle/>
          <a:p>
            <a:r>
              <a:rPr lang="en-IN" sz="2400" dirty="0"/>
              <a:t>Total number of courses : 900</a:t>
            </a:r>
            <a:endParaRPr lang="en-US" sz="2400" dirty="0"/>
          </a:p>
          <a:p>
            <a:r>
              <a:rPr lang="en-US" sz="2400" dirty="0"/>
              <a:t>Columns in dataset:</a:t>
            </a:r>
          </a:p>
          <a:p>
            <a:r>
              <a:rPr lang="en-US" sz="2400" b="1" dirty="0"/>
              <a:t>Title </a:t>
            </a:r>
            <a:r>
              <a:rPr lang="en-US" sz="2400" dirty="0"/>
              <a:t>: </a:t>
            </a:r>
            <a:r>
              <a:rPr lang="en-IN" sz="2400" dirty="0"/>
              <a:t>Course name</a:t>
            </a:r>
            <a:endParaRPr lang="en-US" sz="2400" dirty="0"/>
          </a:p>
          <a:p>
            <a:r>
              <a:rPr lang="en-US" sz="2400" b="1" dirty="0"/>
              <a:t>Provider </a:t>
            </a:r>
            <a:r>
              <a:rPr lang="en-US" sz="2400" dirty="0"/>
              <a:t>: </a:t>
            </a:r>
            <a:r>
              <a:rPr lang="en-IN" sz="2400" dirty="0"/>
              <a:t>Organization offering the course</a:t>
            </a:r>
            <a:endParaRPr lang="en-US" sz="2400" dirty="0"/>
          </a:p>
          <a:p>
            <a:r>
              <a:rPr lang="en-US" sz="2400" b="1" dirty="0" err="1"/>
              <a:t>skills_gained</a:t>
            </a:r>
            <a:r>
              <a:rPr lang="en-US" sz="2400" dirty="0"/>
              <a:t> : Skills covered in the course</a:t>
            </a:r>
          </a:p>
          <a:p>
            <a:r>
              <a:rPr lang="en-US" sz="2400" b="1" dirty="0"/>
              <a:t>Rating</a:t>
            </a:r>
            <a:r>
              <a:rPr lang="en-US" sz="2400" dirty="0"/>
              <a:t> : </a:t>
            </a:r>
            <a:r>
              <a:rPr lang="en-IN" sz="2400" dirty="0"/>
              <a:t>Average learner rating</a:t>
            </a:r>
            <a:endParaRPr lang="en-US" sz="2400" dirty="0"/>
          </a:p>
          <a:p>
            <a:r>
              <a:rPr lang="en-US" sz="2400" b="1" dirty="0"/>
              <a:t>Level </a:t>
            </a:r>
            <a:r>
              <a:rPr lang="en-US" sz="2400" dirty="0"/>
              <a:t>: Course difficulty level</a:t>
            </a:r>
          </a:p>
          <a:p>
            <a:r>
              <a:rPr lang="en-US" sz="2400" b="1" dirty="0"/>
              <a:t>Duration</a:t>
            </a:r>
            <a:r>
              <a:rPr lang="en-US" sz="2400" dirty="0"/>
              <a:t> : </a:t>
            </a:r>
            <a:r>
              <a:rPr lang="en-IN" sz="2400" dirty="0"/>
              <a:t>Estimated course completion time</a:t>
            </a:r>
            <a:endParaRPr lang="en-US" sz="2400" dirty="0"/>
          </a:p>
          <a:p>
            <a:r>
              <a:rPr lang="en-US" sz="2400" b="1" dirty="0" err="1"/>
              <a:t>skill_count</a:t>
            </a:r>
            <a:r>
              <a:rPr lang="en-US" sz="2400" b="1" dirty="0"/>
              <a:t> </a:t>
            </a:r>
            <a:r>
              <a:rPr lang="en-US" sz="2400" dirty="0"/>
              <a:t>: Number of skills covered in the course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39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DC91-DE80-EF3D-7718-E7ABB93E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F70F7-1E65-4744-15FC-0AB8E8A24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593080" cy="4351338"/>
          </a:xfrm>
        </p:spPr>
        <p:txBody>
          <a:bodyPr/>
          <a:lstStyle/>
          <a:p>
            <a:r>
              <a:rPr lang="en-US" sz="2400" dirty="0"/>
              <a:t>Removed unnecessary columns</a:t>
            </a:r>
          </a:p>
          <a:p>
            <a:r>
              <a:rPr lang="en-US" sz="2400" dirty="0"/>
              <a:t>Handled missing values</a:t>
            </a:r>
          </a:p>
          <a:p>
            <a:r>
              <a:rPr lang="en-US" sz="2400" dirty="0"/>
              <a:t>Converted data types</a:t>
            </a:r>
          </a:p>
          <a:p>
            <a:r>
              <a:rPr lang="en-US" sz="2400" dirty="0"/>
              <a:t>Removed duplicate records</a:t>
            </a:r>
          </a:p>
          <a:p>
            <a:r>
              <a:rPr lang="en-US" sz="2400" dirty="0"/>
              <a:t>Created new feature: </a:t>
            </a:r>
            <a:r>
              <a:rPr lang="en-US" sz="2400" dirty="0" err="1"/>
              <a:t>skill_count</a:t>
            </a:r>
            <a:endParaRPr lang="en-US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F98D1-2095-1001-282A-A8B7F0A91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26" y="549164"/>
            <a:ext cx="3977985" cy="2552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A6639-CD80-8591-BE04-9E1E32C1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083" y="3755916"/>
            <a:ext cx="3566469" cy="23852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6D3B11-3420-71F2-FB74-9E87C2EC4EB9}"/>
              </a:ext>
            </a:extLst>
          </p:cNvPr>
          <p:cNvSpPr txBox="1"/>
          <p:nvPr/>
        </p:nvSpPr>
        <p:spPr>
          <a:xfrm>
            <a:off x="6964678" y="149367"/>
            <a:ext cx="338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9960B-1BDD-92AE-8699-44BB675AD1C3}"/>
              </a:ext>
            </a:extLst>
          </p:cNvPr>
          <p:cNvSpPr txBox="1"/>
          <p:nvPr/>
        </p:nvSpPr>
        <p:spPr>
          <a:xfrm>
            <a:off x="7128422" y="3286124"/>
            <a:ext cx="1329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64789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9C7E-95A5-8D33-D1D2-42C9C135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Analysis: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77877-3F15-B993-B186-E9810DCB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Univariate Analysis</a:t>
            </a:r>
          </a:p>
          <a:p>
            <a:r>
              <a:rPr lang="en-IN" dirty="0"/>
              <a:t>Bivariate Analysis</a:t>
            </a:r>
          </a:p>
          <a:p>
            <a:r>
              <a:rPr lang="en-IN" dirty="0"/>
              <a:t>Multivariate Analysis</a:t>
            </a:r>
          </a:p>
          <a:p>
            <a:r>
              <a:rPr lang="en-IN" dirty="0"/>
              <a:t>Statistical Hypothesis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225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2566-EED9-CAD3-3EBD-A5312390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70" y="339365"/>
            <a:ext cx="6966408" cy="810705"/>
          </a:xfrm>
        </p:spPr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F8DCE1-3E3A-DF4A-C7B4-D1C48B2F6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94" y="1323773"/>
            <a:ext cx="4524865" cy="31940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3F3D09-0112-2450-FF02-7DFB61476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29" y="954464"/>
            <a:ext cx="4985902" cy="35633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73AE1B-832D-81C9-1968-3CE92D394E70}"/>
              </a:ext>
            </a:extLst>
          </p:cNvPr>
          <p:cNvSpPr txBox="1"/>
          <p:nvPr/>
        </p:nvSpPr>
        <p:spPr>
          <a:xfrm>
            <a:off x="490194" y="4817097"/>
            <a:ext cx="4730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courses have ratings between </a:t>
            </a:r>
            <a:r>
              <a:rPr lang="en-US" b="1" dirty="0"/>
              <a:t>4.5 and 4.9</a:t>
            </a:r>
            <a:r>
              <a:rPr lang="en-US" dirty="0"/>
              <a:t>, indicating high learner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few courses have ratings below </a:t>
            </a:r>
            <a:r>
              <a:rPr lang="en-US" b="1" dirty="0"/>
              <a:t>4.0</a:t>
            </a:r>
            <a:r>
              <a:rPr lang="en-US" dirty="0"/>
              <a:t>, showing overall good course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is </a:t>
            </a:r>
            <a:r>
              <a:rPr lang="en-US" b="1" dirty="0"/>
              <a:t>left-skewed</a:t>
            </a:r>
            <a:r>
              <a:rPr lang="en-US" dirty="0"/>
              <a:t>, meaning higher ratings are more common.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BD2E2-CDE0-7484-737C-D4FBDB2BE359}"/>
              </a:ext>
            </a:extLst>
          </p:cNvPr>
          <p:cNvSpPr txBox="1"/>
          <p:nvPr/>
        </p:nvSpPr>
        <p:spPr>
          <a:xfrm>
            <a:off x="5995447" y="4817097"/>
            <a:ext cx="55618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Beginner-level courses dominate</a:t>
            </a:r>
            <a:r>
              <a:rPr lang="en-US" dirty="0"/>
              <a:t> the platform, making it beginner-friendly.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Intermediate courses</a:t>
            </a:r>
            <a:r>
              <a:rPr lang="en-US" dirty="0"/>
              <a:t> form the second largest 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Advanced-level courses are limited</a:t>
            </a:r>
            <a:r>
              <a:rPr lang="en-US" dirty="0"/>
              <a:t>, indicating fewer specialized offerings.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Mixed-level courses are comparatively fewer but support flexible learning paths.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265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4412594-E146-3213-293B-0DFA01B55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92" y="418333"/>
            <a:ext cx="5642857" cy="35515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57CD97-1A0D-D29C-3531-C5EF0A93F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3" y="311039"/>
            <a:ext cx="5110307" cy="3715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BF0AD8-5E34-62DC-C234-069675B5D504}"/>
              </a:ext>
            </a:extLst>
          </p:cNvPr>
          <p:cNvSpPr txBox="1"/>
          <p:nvPr/>
        </p:nvSpPr>
        <p:spPr>
          <a:xfrm>
            <a:off x="661184" y="4412810"/>
            <a:ext cx="49760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courses fall within </a:t>
            </a:r>
            <a:r>
              <a:rPr lang="en-US" b="1" dirty="0"/>
              <a:t>1–4 weeks</a:t>
            </a:r>
            <a:r>
              <a:rPr lang="en-US" dirty="0"/>
              <a:t> and </a:t>
            </a:r>
            <a:r>
              <a:rPr lang="en-US" b="1" dirty="0"/>
              <a:t>1–3 months</a:t>
            </a:r>
            <a:r>
              <a:rPr lang="en-US" dirty="0"/>
              <a:t>, indicating a preference for short-term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 duration courses (6-12) months are very limited on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Learners are encouraged to complete courses quickly with focused learning goals.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56B380-A5B5-7521-54E1-54AF7BC9FA52}"/>
              </a:ext>
            </a:extLst>
          </p:cNvPr>
          <p:cNvSpPr txBox="1"/>
          <p:nvPr/>
        </p:nvSpPr>
        <p:spPr>
          <a:xfrm flipH="1">
            <a:off x="6165130" y="4412810"/>
            <a:ext cx="55523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of courses offer between </a:t>
            </a:r>
            <a:r>
              <a:rPr lang="en-US" b="1" dirty="0"/>
              <a:t>10 and 20 skills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few courses provide less than </a:t>
            </a:r>
            <a:r>
              <a:rPr lang="en-US" b="1" dirty="0"/>
              <a:t>5 skills</a:t>
            </a:r>
            <a:r>
              <a:rPr lang="en-US" dirty="0"/>
              <a:t>, indicating comprehensive course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Higher Skills coverage suggests  </a:t>
            </a:r>
            <a:r>
              <a:rPr lang="en-US" dirty="0"/>
              <a:t>a strong focus on </a:t>
            </a:r>
            <a:r>
              <a:rPr lang="en-US" b="1" dirty="0"/>
              <a:t>practical and job-ready learning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Courses are structured to deliver </a:t>
            </a:r>
            <a:r>
              <a:rPr lang="en-US" b="1" dirty="0"/>
              <a:t>multiple competencies within a single program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41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1EEE1-65D0-FB70-96BA-27304078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12" y="226243"/>
            <a:ext cx="10581588" cy="612743"/>
          </a:xfrm>
        </p:spPr>
        <p:txBody>
          <a:bodyPr>
            <a:normAutofit fontScale="90000"/>
          </a:bodyPr>
          <a:lstStyle/>
          <a:p>
            <a:r>
              <a:rPr lang="en-IN" dirty="0"/>
              <a:t>Bivariate Analysis: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6CCC0-4AF6-08B9-92B8-9F02867B4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26" y="838986"/>
            <a:ext cx="5937874" cy="3526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8FB56D-7FD2-E3CE-E30E-34E333378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086" y="838986"/>
            <a:ext cx="5584492" cy="38103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03D7F9-A56C-1FA7-585F-00FE82665495}"/>
              </a:ext>
            </a:extLst>
          </p:cNvPr>
          <p:cNvSpPr txBox="1"/>
          <p:nvPr/>
        </p:nvSpPr>
        <p:spPr>
          <a:xfrm>
            <a:off x="684460" y="4649316"/>
            <a:ext cx="53261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Packt</a:t>
            </a:r>
            <a:r>
              <a:rPr lang="en-US" b="1" dirty="0"/>
              <a:t> and IBM</a:t>
            </a:r>
            <a:r>
              <a:rPr lang="en-US" dirty="0"/>
              <a:t> offer the highest number of courses on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 organizations like </a:t>
            </a:r>
            <a:r>
              <a:rPr lang="en-US" b="1" dirty="0"/>
              <a:t>Coursera, Microsoft, and Google</a:t>
            </a:r>
            <a:r>
              <a:rPr lang="en-US" dirty="0"/>
              <a:t> also contribute significantly.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shows that </a:t>
            </a:r>
            <a:r>
              <a:rPr lang="en-US" b="1" dirty="0"/>
              <a:t>a few top providers dominate course offerings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indicates strong institutional participation in online education.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2DD59C-E25E-54BA-CDE9-A76C8A3D95AA}"/>
              </a:ext>
            </a:extLst>
          </p:cNvPr>
          <p:cNvSpPr txBox="1"/>
          <p:nvPr/>
        </p:nvSpPr>
        <p:spPr>
          <a:xfrm>
            <a:off x="6181398" y="4649316"/>
            <a:ext cx="56467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Ratings across all Course levels remains consistently High, mostly above </a:t>
            </a:r>
            <a:r>
              <a:rPr lang="en-IN" b="1" dirty="0"/>
              <a:t>4.4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Beginner and Intermediate courses</a:t>
            </a:r>
            <a:r>
              <a:rPr lang="en-US" dirty="0"/>
              <a:t> show slightly wider variation in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 Courses tend to have more stable and consistent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46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AB5625-6639-2530-522D-01FE77A1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120" y="373029"/>
            <a:ext cx="5382705" cy="35862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EB4ECA-7B65-787A-4233-2401FAF15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85" y="471325"/>
            <a:ext cx="5139635" cy="40700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4EB2C7-600F-961D-A378-00E39323F584}"/>
              </a:ext>
            </a:extLst>
          </p:cNvPr>
          <p:cNvSpPr txBox="1"/>
          <p:nvPr/>
        </p:nvSpPr>
        <p:spPr>
          <a:xfrm>
            <a:off x="452487" y="4807670"/>
            <a:ext cx="49113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Beginner</a:t>
            </a:r>
            <a:r>
              <a:rPr lang="en-IN" dirty="0"/>
              <a:t> courses having the highest average no of skills.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Intermediate and Advanced courses</a:t>
            </a:r>
            <a:r>
              <a:rPr lang="en-US" dirty="0"/>
              <a:t> offer a balanced skill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Mixed-level courses</a:t>
            </a:r>
            <a:r>
              <a:rPr lang="en-US" dirty="0"/>
              <a:t> slightly cover fewer skills compared to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7947AD-9A7A-BD0C-485A-D6FD6DE2E285}"/>
              </a:ext>
            </a:extLst>
          </p:cNvPr>
          <p:cNvSpPr txBox="1"/>
          <p:nvPr/>
        </p:nvSpPr>
        <p:spPr>
          <a:xfrm>
            <a:off x="6021701" y="4366729"/>
            <a:ext cx="58518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Ratings remain mostly </a:t>
            </a:r>
            <a:r>
              <a:rPr lang="en-US" b="1" dirty="0"/>
              <a:t>between 4.3 and 4.9</a:t>
            </a:r>
            <a:r>
              <a:rPr lang="en-US" dirty="0"/>
              <a:t>, regardless of skill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strong linear relationship is observed between number of skills and rating.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Courses with both </a:t>
            </a:r>
            <a:r>
              <a:rPr lang="en-US" b="1" dirty="0"/>
              <a:t>low and high skill counts</a:t>
            </a:r>
            <a:r>
              <a:rPr lang="en-US" dirty="0"/>
              <a:t> can achieve high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Learner satisfaction depends more on </a:t>
            </a:r>
            <a:r>
              <a:rPr lang="en-US" b="1" dirty="0"/>
              <a:t>content quality than quantity of skills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262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A31C-349F-3598-6EC1-3330FB29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1" y="518474"/>
            <a:ext cx="8436990" cy="999241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8EA4F-7C88-D61B-6EF8-758D9A47F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618" y="1517716"/>
            <a:ext cx="5213172" cy="35916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CE132-22C9-295E-55A1-1D1C67DCBD22}"/>
              </a:ext>
            </a:extLst>
          </p:cNvPr>
          <p:cNvSpPr txBox="1"/>
          <p:nvPr/>
        </p:nvSpPr>
        <p:spPr>
          <a:xfrm>
            <a:off x="772998" y="1852367"/>
            <a:ext cx="53230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Ratings remain consistently high (</a:t>
            </a:r>
            <a:r>
              <a:rPr lang="en-US" b="1" dirty="0"/>
              <a:t>above 4.0</a:t>
            </a:r>
            <a:r>
              <a:rPr lang="en-US" dirty="0"/>
              <a:t>) across all course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Courses with both </a:t>
            </a:r>
            <a:r>
              <a:rPr lang="en-US" b="1" dirty="0"/>
              <a:t>low and high skill counts</a:t>
            </a:r>
            <a:r>
              <a:rPr lang="en-US" dirty="0"/>
              <a:t> can achieve strong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Beginner and Intermediate courses</a:t>
            </a:r>
            <a:r>
              <a:rPr lang="en-US" dirty="0"/>
              <a:t> show a wider spread in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Advanced courses</a:t>
            </a:r>
            <a:r>
              <a:rPr lang="en-US" dirty="0"/>
              <a:t> tend to have more stable and less variable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Mixed-level courses show moderate variation due to diverse learner backgrounds.</a:t>
            </a:r>
          </a:p>
        </p:txBody>
      </p:sp>
    </p:spTree>
    <p:extLst>
      <p:ext uri="{BB962C8B-B14F-4D97-AF65-F5344CB8AC3E}">
        <p14:creationId xmlns:p14="http://schemas.microsoft.com/office/powerpoint/2010/main" val="593588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A05A-CBC3-D3E4-626D-43430636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181" y="329939"/>
            <a:ext cx="10718277" cy="63159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Visualizations: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D4A0D-C2AF-9F40-FC04-D40DB1955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78" y="1729353"/>
            <a:ext cx="5382723" cy="3125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EE5997-00F4-ADC9-611F-7F0612C8A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892" y="1593133"/>
            <a:ext cx="5897818" cy="326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21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97DC-4FDB-A892-2FA8-7AA97EE0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76" y="273377"/>
            <a:ext cx="10693924" cy="844223"/>
          </a:xfrm>
        </p:spPr>
        <p:txBody>
          <a:bodyPr/>
          <a:lstStyle/>
          <a:p>
            <a:r>
              <a:rPr lang="en-IN" sz="3600" dirty="0"/>
              <a:t>Evaluation (Hypothesis Testing):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56913-E88C-B9DD-3594-1E59D619B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876" y="1219200"/>
            <a:ext cx="10693924" cy="5090159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IN" sz="3800" b="1" dirty="0"/>
              <a:t>Course Level vs Rating</a:t>
            </a:r>
          </a:p>
          <a:p>
            <a:pPr marL="114300" indent="0">
              <a:buNone/>
            </a:pPr>
            <a:endParaRPr lang="en-US" sz="3800" dirty="0"/>
          </a:p>
          <a:p>
            <a:pPr marL="114300" indent="0">
              <a:buNone/>
            </a:pPr>
            <a:r>
              <a:rPr lang="en-US" sz="3300" dirty="0"/>
              <a:t>Null Hypothesis (H₀):</a:t>
            </a:r>
          </a:p>
          <a:p>
            <a:pPr marL="114300" indent="0">
              <a:buNone/>
            </a:pPr>
            <a:r>
              <a:rPr lang="en-US" sz="3300" dirty="0"/>
              <a:t>       There is </a:t>
            </a:r>
            <a:r>
              <a:rPr lang="en-US" sz="3300" b="1" dirty="0"/>
              <a:t>no significant</a:t>
            </a:r>
            <a:r>
              <a:rPr lang="en-US" sz="3300" dirty="0"/>
              <a:t> </a:t>
            </a:r>
            <a:r>
              <a:rPr lang="en-US" sz="3300" b="1" dirty="0"/>
              <a:t>difference</a:t>
            </a:r>
            <a:r>
              <a:rPr lang="en-US" sz="3300" dirty="0"/>
              <a:t> in average course ratings across different course levels</a:t>
            </a:r>
            <a:br>
              <a:rPr lang="en-US" sz="3300" dirty="0"/>
            </a:br>
            <a:endParaRPr lang="en-US" sz="3300" dirty="0"/>
          </a:p>
          <a:p>
            <a:pPr marL="114300" indent="0">
              <a:buNone/>
            </a:pPr>
            <a:r>
              <a:rPr lang="en-US" sz="3300" dirty="0"/>
              <a:t>Alternative Hypothesis (H₁):</a:t>
            </a:r>
          </a:p>
          <a:p>
            <a:pPr marL="114300" indent="0">
              <a:buNone/>
            </a:pPr>
            <a:r>
              <a:rPr lang="en-US" sz="3300" dirty="0"/>
              <a:t>       There is a</a:t>
            </a:r>
            <a:r>
              <a:rPr lang="en-US" sz="3300" b="1" dirty="0"/>
              <a:t> significant difference </a:t>
            </a:r>
            <a:r>
              <a:rPr lang="en-US" sz="3300" dirty="0"/>
              <a:t>in average course ratings across different course levels.</a:t>
            </a:r>
          </a:p>
          <a:p>
            <a:pPr marL="114300" indent="0">
              <a:buNone/>
            </a:pPr>
            <a:endParaRPr lang="en-US" sz="3300" dirty="0"/>
          </a:p>
          <a:p>
            <a:pPr marL="114300" indent="0">
              <a:buNone/>
            </a:pPr>
            <a:r>
              <a:rPr lang="en-US" sz="3300" dirty="0"/>
              <a:t>• A </a:t>
            </a:r>
            <a:r>
              <a:rPr lang="en-US" sz="3300" b="1" dirty="0"/>
              <a:t>one-way ANOVA test</a:t>
            </a:r>
            <a:r>
              <a:rPr lang="en-US" sz="3300" dirty="0"/>
              <a:t> was performed to compare the mean ratings among different course levels</a:t>
            </a:r>
          </a:p>
          <a:p>
            <a:pPr marL="114300" indent="0">
              <a:buNone/>
            </a:pPr>
            <a:endParaRPr lang="en-US" sz="3300" dirty="0"/>
          </a:p>
          <a:p>
            <a:pPr marL="114300" indent="0">
              <a:buNone/>
            </a:pPr>
            <a:r>
              <a:rPr lang="en-US" sz="3300" dirty="0"/>
              <a:t>• The test result showed </a:t>
            </a:r>
            <a:r>
              <a:rPr lang="en-US" sz="3300" b="1" dirty="0"/>
              <a:t>no statistically significant difference</a:t>
            </a:r>
            <a:r>
              <a:rPr lang="en-US" sz="3300" dirty="0"/>
              <a:t> in average ratings between course levels.</a:t>
            </a:r>
            <a:br>
              <a:rPr lang="en-US" sz="3300" dirty="0"/>
            </a:br>
            <a:endParaRPr lang="en-US" sz="3300" dirty="0"/>
          </a:p>
          <a:p>
            <a:r>
              <a:rPr lang="en-US" sz="3300" dirty="0"/>
              <a:t>Since the </a:t>
            </a:r>
            <a:r>
              <a:rPr lang="en-US" sz="3300" b="1" dirty="0"/>
              <a:t>p-value was greater than the significance level (α = 0.05), </a:t>
            </a:r>
            <a:r>
              <a:rPr lang="en-US" sz="3300" dirty="0"/>
              <a:t>the </a:t>
            </a:r>
            <a:r>
              <a:rPr lang="en-US" sz="3300" b="1" dirty="0"/>
              <a:t>null hypothesis (H₀) was accepted.</a:t>
            </a:r>
          </a:p>
        </p:txBody>
      </p:sp>
    </p:spTree>
    <p:extLst>
      <p:ext uri="{BB962C8B-B14F-4D97-AF65-F5344CB8AC3E}">
        <p14:creationId xmlns:p14="http://schemas.microsoft.com/office/powerpoint/2010/main" val="508341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24BF1-347E-B9A1-1776-883D04E3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CD70-7DC2-2CB1-07E3-C8B54CE6B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76" y="273377"/>
            <a:ext cx="10693924" cy="844223"/>
          </a:xfrm>
        </p:spPr>
        <p:txBody>
          <a:bodyPr/>
          <a:lstStyle/>
          <a:p>
            <a:r>
              <a:rPr lang="en-IN" sz="3600" dirty="0"/>
              <a:t>Evaluation (Hypothesis Testing):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9F5C9-0070-4AF4-6027-4F4347134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876" y="1219200"/>
            <a:ext cx="10693924" cy="5090159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US" sz="4000" b="1" dirty="0"/>
              <a:t>Skill Count vs Course Rating</a:t>
            </a:r>
          </a:p>
          <a:p>
            <a:pPr marL="114300" indent="0">
              <a:buNone/>
            </a:pPr>
            <a:endParaRPr lang="en-US" sz="3800" dirty="0"/>
          </a:p>
          <a:p>
            <a:pPr marL="114300" indent="0">
              <a:buNone/>
            </a:pPr>
            <a:r>
              <a:rPr lang="en-US" sz="3800" dirty="0"/>
              <a:t>Null Hypothesis (H₀):</a:t>
            </a:r>
          </a:p>
          <a:p>
            <a:pPr marL="114300" indent="0">
              <a:buNone/>
            </a:pPr>
            <a:r>
              <a:rPr lang="en-US" sz="3800" dirty="0"/>
              <a:t>       </a:t>
            </a:r>
            <a:r>
              <a:rPr lang="en-US" sz="4000" dirty="0"/>
              <a:t>There is </a:t>
            </a:r>
            <a:r>
              <a:rPr lang="en-US" sz="4000" b="1" dirty="0"/>
              <a:t>no significant relationship</a:t>
            </a:r>
            <a:r>
              <a:rPr lang="en-US" sz="4000" dirty="0"/>
              <a:t> between the number of skills covered in a course and its rating.</a:t>
            </a:r>
            <a:endParaRPr lang="en-US" sz="3800" dirty="0"/>
          </a:p>
          <a:p>
            <a:pPr marL="114300" indent="0">
              <a:buNone/>
            </a:pPr>
            <a:endParaRPr lang="en-US" sz="3800" dirty="0"/>
          </a:p>
          <a:p>
            <a:pPr marL="114300" indent="0">
              <a:buNone/>
            </a:pPr>
            <a:r>
              <a:rPr lang="en-US" sz="3800" dirty="0"/>
              <a:t>Alternative Hypothesis (H₁):</a:t>
            </a:r>
          </a:p>
          <a:p>
            <a:pPr marL="114300" indent="0">
              <a:buNone/>
            </a:pPr>
            <a:r>
              <a:rPr lang="en-US" sz="3800" dirty="0"/>
              <a:t>       </a:t>
            </a:r>
            <a:r>
              <a:rPr lang="en-US" sz="4000" dirty="0"/>
              <a:t>There is a </a:t>
            </a:r>
            <a:r>
              <a:rPr lang="en-US" sz="4000" b="1" dirty="0"/>
              <a:t>significant relationship</a:t>
            </a:r>
            <a:r>
              <a:rPr lang="en-US" sz="4000" dirty="0"/>
              <a:t> between the number of skills covered and course rating.</a:t>
            </a:r>
          </a:p>
          <a:p>
            <a:pPr marL="114300" indent="0">
              <a:buNone/>
            </a:pPr>
            <a:endParaRPr lang="en-US" sz="3800" dirty="0"/>
          </a:p>
          <a:p>
            <a:pPr marL="114300" indent="0">
              <a:buNone/>
            </a:pPr>
            <a:r>
              <a:rPr lang="en-US" sz="3800" dirty="0"/>
              <a:t>•</a:t>
            </a:r>
            <a:r>
              <a:rPr lang="en-US" sz="4000" b="1" dirty="0"/>
              <a:t>Pearson Correlation Test</a:t>
            </a:r>
            <a:r>
              <a:rPr lang="en-US" sz="4000" dirty="0"/>
              <a:t> was used to measure the relationship between skill count and rating</a:t>
            </a:r>
          </a:p>
          <a:p>
            <a:pPr marL="114300" indent="0">
              <a:buNone/>
            </a:pPr>
            <a:endParaRPr lang="en-US" sz="3800" dirty="0"/>
          </a:p>
          <a:p>
            <a:pPr marL="114300" indent="0">
              <a:buNone/>
            </a:pPr>
            <a:r>
              <a:rPr lang="en-US" sz="3800" dirty="0"/>
              <a:t>•</a:t>
            </a:r>
            <a:r>
              <a:rPr lang="en-US" sz="4000" dirty="0"/>
              <a:t>The correlation value indicated a </a:t>
            </a:r>
            <a:r>
              <a:rPr lang="en-US" sz="4000" b="1" dirty="0"/>
              <a:t>weak relationship</a:t>
            </a:r>
            <a:r>
              <a:rPr lang="en-US" sz="4000" dirty="0"/>
              <a:t> between skill count and rating.</a:t>
            </a:r>
          </a:p>
          <a:p>
            <a:pPr marL="114300" indent="0">
              <a:buNone/>
            </a:pPr>
            <a:br>
              <a:rPr lang="en-US" sz="4000" dirty="0"/>
            </a:br>
            <a:r>
              <a:rPr lang="en-US" sz="4000" dirty="0"/>
              <a:t>• The </a:t>
            </a:r>
            <a:r>
              <a:rPr lang="en-US" sz="4000" b="1" dirty="0"/>
              <a:t>p-value was greater than 0.05</a:t>
            </a:r>
            <a:r>
              <a:rPr lang="en-US" sz="4000" dirty="0"/>
              <a:t>, indicating no strong statistical association.</a:t>
            </a:r>
            <a:r>
              <a:rPr lang="en-US" sz="3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801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E29F-9AD8-FAA1-8EB8-E80A78FEF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D5CB-15AD-E1E4-3B9D-ABB2E4E1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76" y="273377"/>
            <a:ext cx="10693924" cy="844223"/>
          </a:xfrm>
        </p:spPr>
        <p:txBody>
          <a:bodyPr/>
          <a:lstStyle/>
          <a:p>
            <a:r>
              <a:rPr lang="en-IN" sz="3600" dirty="0"/>
              <a:t>Evaluation (Hypothesis Testing):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865EA-2F9E-B415-285F-F93D05001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876" y="1219200"/>
            <a:ext cx="10693924" cy="5090159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100" b="1" dirty="0"/>
              <a:t>Average Course Rating vs Benchmark (4.5)</a:t>
            </a:r>
          </a:p>
          <a:p>
            <a:pPr marL="114300" indent="0">
              <a:buNone/>
            </a:pPr>
            <a:endParaRPr lang="en-US" sz="2100" b="1" dirty="0"/>
          </a:p>
          <a:p>
            <a:pPr marL="114300" indent="0">
              <a:buNone/>
            </a:pPr>
            <a:r>
              <a:rPr lang="en-US" sz="1900" dirty="0"/>
              <a:t>Null Hypothesis (H₀):</a:t>
            </a:r>
          </a:p>
          <a:p>
            <a:pPr marL="114300" indent="0">
              <a:buNone/>
            </a:pPr>
            <a:r>
              <a:rPr lang="en-US" sz="1900" dirty="0"/>
              <a:t>      The average Coursera course rating is </a:t>
            </a:r>
            <a:r>
              <a:rPr lang="en-US" sz="1900" b="1" dirty="0"/>
              <a:t>less than or equal to 4.5</a:t>
            </a:r>
            <a:r>
              <a:rPr lang="en-US" sz="1900" dirty="0"/>
              <a:t>.</a:t>
            </a:r>
          </a:p>
          <a:p>
            <a:pPr marL="114300" indent="0">
              <a:buNone/>
            </a:pPr>
            <a:endParaRPr lang="en-US" sz="1900" dirty="0"/>
          </a:p>
          <a:p>
            <a:pPr marL="114300" indent="0">
              <a:buNone/>
            </a:pPr>
            <a:r>
              <a:rPr lang="en-US" sz="1900" dirty="0"/>
              <a:t>Alternative Hypothesis (H₁):</a:t>
            </a:r>
          </a:p>
          <a:p>
            <a:pPr marL="114300" indent="0">
              <a:buNone/>
            </a:pPr>
            <a:r>
              <a:rPr lang="en-US" sz="1900" dirty="0"/>
              <a:t>       The average Coursera course rating is </a:t>
            </a:r>
            <a:r>
              <a:rPr lang="en-US" sz="1900" b="1" dirty="0"/>
              <a:t>greater than 4.5</a:t>
            </a:r>
            <a:r>
              <a:rPr lang="en-US" sz="1900" dirty="0"/>
              <a:t>.</a:t>
            </a:r>
          </a:p>
          <a:p>
            <a:pPr marL="114300" indent="0">
              <a:buNone/>
            </a:pPr>
            <a:endParaRPr lang="en-US" sz="1900" dirty="0"/>
          </a:p>
          <a:p>
            <a:r>
              <a:rPr lang="en-US" sz="1900" dirty="0"/>
              <a:t>A </a:t>
            </a:r>
            <a:r>
              <a:rPr lang="en-US" sz="1900" b="1" dirty="0"/>
              <a:t>one-sample t-test</a:t>
            </a:r>
            <a:r>
              <a:rPr lang="en-US" sz="1900" dirty="0"/>
              <a:t> was performed using 4.5 as the benchmark rating.</a:t>
            </a:r>
          </a:p>
          <a:p>
            <a:pPr marL="114300" indent="0">
              <a:buNone/>
            </a:pPr>
            <a:endParaRPr lang="en-US" sz="1900" dirty="0"/>
          </a:p>
          <a:p>
            <a:r>
              <a:rPr lang="en-US" sz="1900" dirty="0"/>
              <a:t>The test result showed that the </a:t>
            </a:r>
            <a:r>
              <a:rPr lang="en-US" sz="1900" b="1" dirty="0"/>
              <a:t>mean course rating is significantly higher than 4.5</a:t>
            </a:r>
            <a:r>
              <a:rPr lang="en-US" sz="1900" dirty="0"/>
              <a:t>.</a:t>
            </a:r>
          </a:p>
          <a:p>
            <a:endParaRPr lang="en-US" sz="1900" dirty="0"/>
          </a:p>
          <a:p>
            <a:r>
              <a:rPr lang="en-US" sz="1900" dirty="0"/>
              <a:t>Since the </a:t>
            </a:r>
            <a:r>
              <a:rPr lang="en-US" sz="1900" b="1" dirty="0"/>
              <a:t>p-value was less than the significance level (α = 0.05)</a:t>
            </a:r>
            <a:r>
              <a:rPr lang="en-US" sz="1900" dirty="0"/>
              <a:t>, the </a:t>
            </a:r>
            <a:r>
              <a:rPr lang="en-US" sz="1900" b="1" dirty="0"/>
              <a:t>null hypothesis (H₀) was rejected</a:t>
            </a:r>
            <a:r>
              <a:rPr lang="en-US" sz="1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1709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E37A-C144-9DFE-C324-42BE2777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54E8F-2A1E-8BBC-A382-A6C7AD098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Dynamic content loading caused scraping delays.</a:t>
            </a:r>
          </a:p>
          <a:p>
            <a:r>
              <a:rPr lang="en-US" sz="2400" dirty="0"/>
              <a:t>Inconsistent HTML structure across course cards.</a:t>
            </a:r>
          </a:p>
          <a:p>
            <a:r>
              <a:rPr lang="en-US" sz="2400" dirty="0"/>
              <a:t>Missing values in skills, duration, and ratings.</a:t>
            </a:r>
          </a:p>
          <a:p>
            <a:r>
              <a:rPr lang="en-US" sz="2400" dirty="0"/>
              <a:t>Difficulty in separating combined text fields.</a:t>
            </a:r>
          </a:p>
          <a:p>
            <a:r>
              <a:rPr lang="en-US" sz="2400" dirty="0"/>
              <a:t>Ratings were very close, making visualization challenging.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137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C8AE-AF21-EAE2-A4B9-C6A68AB0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7" y="405352"/>
            <a:ext cx="10637363" cy="989815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4A672-119C-54A3-4D02-E2296ACF7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5996"/>
            <a:ext cx="10515600" cy="3874415"/>
          </a:xfrm>
        </p:spPr>
        <p:txBody>
          <a:bodyPr/>
          <a:lstStyle/>
          <a:p>
            <a:r>
              <a:rPr lang="en-US" sz="2400" dirty="0"/>
              <a:t>Majority of courses are Beginner level.</a:t>
            </a:r>
          </a:p>
          <a:p>
            <a:r>
              <a:rPr lang="en-US" sz="2400" dirty="0"/>
              <a:t>Most courses have ratings above 4.5.</a:t>
            </a:r>
          </a:p>
          <a:p>
            <a:r>
              <a:rPr lang="en-US" sz="2400" dirty="0"/>
              <a:t>IBM and </a:t>
            </a:r>
            <a:r>
              <a:rPr lang="en-IN" sz="2400" dirty="0" err="1"/>
              <a:t>Packt</a:t>
            </a:r>
            <a:r>
              <a:rPr lang="en-IN" sz="2400" dirty="0"/>
              <a:t> </a:t>
            </a:r>
            <a:r>
              <a:rPr lang="en-US" sz="2400" dirty="0"/>
              <a:t>are major course providers.</a:t>
            </a:r>
          </a:p>
          <a:p>
            <a:r>
              <a:rPr lang="en-US" sz="2400" dirty="0"/>
              <a:t>Course duration has little impact on rating.</a:t>
            </a:r>
          </a:p>
          <a:p>
            <a:r>
              <a:rPr lang="en-US" sz="2400" dirty="0"/>
              <a:t>Content quality matters more than quantity.</a:t>
            </a:r>
          </a:p>
        </p:txBody>
      </p:sp>
    </p:spTree>
    <p:extLst>
      <p:ext uri="{BB962C8B-B14F-4D97-AF65-F5344CB8AC3E}">
        <p14:creationId xmlns:p14="http://schemas.microsoft.com/office/powerpoint/2010/main" val="3943465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8EE6-BB73-BD82-CBB0-E011C8E11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3737"/>
          </a:xfrm>
        </p:spPr>
        <p:txBody>
          <a:bodyPr/>
          <a:lstStyle/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5F11D-28ED-69A4-F995-2B7410926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3130"/>
            <a:ext cx="10515600" cy="4583833"/>
          </a:xfrm>
        </p:spPr>
        <p:txBody>
          <a:bodyPr/>
          <a:lstStyle/>
          <a:p>
            <a:r>
              <a:rPr lang="en-US" sz="2400" dirty="0"/>
              <a:t>This project successfully demonstrated an end-to-end data analytics workflow using real-world Coursera course data. </a:t>
            </a:r>
          </a:p>
          <a:p>
            <a:r>
              <a:rPr lang="en-US" sz="2400" dirty="0"/>
              <a:t>The dataset was collected through web scraping, cleaned, and analyzed using exploratory data analysis techniques.</a:t>
            </a:r>
          </a:p>
          <a:p>
            <a:r>
              <a:rPr lang="en-US" sz="2400" dirty="0"/>
              <a:t>Various visualizations helped uncover meaningful insights related to course providers, ratings, skill demand, and course structure.</a:t>
            </a:r>
          </a:p>
          <a:p>
            <a:r>
              <a:rPr lang="en-US" sz="2400" dirty="0"/>
              <a:t>Hypothesis testing further validated assumptions using statistical methods, enabling data-driven conclusions.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11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03ECD117-6E96-6947-5553-AC133E59D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617" y="1425262"/>
            <a:ext cx="7579150" cy="400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951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2285</TotalTime>
  <Words>1223</Words>
  <Application>Microsoft Office PowerPoint</Application>
  <PresentationFormat>Widescreen</PresentationFormat>
  <Paragraphs>190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Lato Black</vt:lpstr>
      <vt:lpstr>Libre Baskerville</vt:lpstr>
      <vt:lpstr>Times New Roman</vt:lpstr>
      <vt:lpstr>Calibri</vt:lpstr>
      <vt:lpstr>Office Theme</vt:lpstr>
      <vt:lpstr>PowerPoint Presentation</vt:lpstr>
      <vt:lpstr>About me</vt:lpstr>
      <vt:lpstr>AGENDA :</vt:lpstr>
      <vt:lpstr> Business Problem Statement : </vt:lpstr>
      <vt:lpstr>Business Objective :</vt:lpstr>
      <vt:lpstr>Data Collection:</vt:lpstr>
      <vt:lpstr>Tools &amp; Technologies:</vt:lpstr>
      <vt:lpstr>Dataset Overview:</vt:lpstr>
      <vt:lpstr>Data Cleaning:</vt:lpstr>
      <vt:lpstr>Types of Analysis:</vt:lpstr>
      <vt:lpstr>Univariate Analysis:</vt:lpstr>
      <vt:lpstr>PowerPoint Presentation</vt:lpstr>
      <vt:lpstr>Bivariate Analysis:</vt:lpstr>
      <vt:lpstr>PowerPoint Presentation</vt:lpstr>
      <vt:lpstr>Multivariate Analysis:</vt:lpstr>
      <vt:lpstr>Key Visualizations:</vt:lpstr>
      <vt:lpstr>Evaluation (Hypothesis Testing):</vt:lpstr>
      <vt:lpstr>Evaluation (Hypothesis Testing):</vt:lpstr>
      <vt:lpstr>Evaluation (Hypothesis Testing):</vt:lpstr>
      <vt:lpstr>Challenges:</vt:lpstr>
      <vt:lpstr>Key Insights:</vt:lpstr>
      <vt:lpstr>Conclusion: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srikar emmadi</cp:lastModifiedBy>
  <cp:revision>45</cp:revision>
  <dcterms:created xsi:type="dcterms:W3CDTF">2021-02-16T05:19:01Z</dcterms:created>
  <dcterms:modified xsi:type="dcterms:W3CDTF">2026-01-31T06:01:40Z</dcterms:modified>
</cp:coreProperties>
</file>